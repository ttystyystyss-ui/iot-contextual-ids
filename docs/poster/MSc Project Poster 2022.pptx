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56" r:id="rId5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467" userDrawn="1">
          <p15:clr>
            <a:srgbClr val="A4A3A4"/>
          </p15:clr>
        </p15:guide>
        <p15:guide id="2" pos="669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E6E5"/>
    <a:srgbClr val="AB1F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A410C5-425C-5644-9809-61CE2AB39178}" v="14" dt="2022-10-17T20:11:04.4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854"/>
    <p:restoredTop sz="94728"/>
  </p:normalViewPr>
  <p:slideViewPr>
    <p:cSldViewPr snapToGrid="0" showGuides="1">
      <p:cViewPr>
        <p:scale>
          <a:sx n="20" d="100"/>
          <a:sy n="20" d="100"/>
        </p:scale>
        <p:origin x="1928" y="416"/>
      </p:cViewPr>
      <p:guideLst>
        <p:guide orient="horz" pos="9467"/>
        <p:guide pos="669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327E1-F81E-C04E-B76A-643970D877DF}" type="datetimeFigureOut">
              <a:rPr lang="en-GB" smtClean="0"/>
              <a:t>12/09/2023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2C4CC-5F99-6C42-A14A-9DAD2D4855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9982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327E1-F81E-C04E-B76A-643970D877DF}" type="datetimeFigureOut">
              <a:rPr lang="en-GB" smtClean="0"/>
              <a:t>12/09/2023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2C4CC-5F99-6C42-A14A-9DAD2D4855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1938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/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75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75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327E1-F81E-C04E-B76A-643970D877DF}" type="datetimeFigureOut">
              <a:rPr lang="en-GB" smtClean="0"/>
              <a:t>12/09/2023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2C4CC-5F99-6C42-A14A-9DAD2D4855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4040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327E1-F81E-C04E-B76A-643970D877DF}" type="datetimeFigureOut">
              <a:rPr lang="en-GB" smtClean="0"/>
              <a:t>12/09/2023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2C4CC-5F99-6C42-A14A-9DAD2D4855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5295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327E1-F81E-C04E-B76A-643970D877DF}" type="datetimeFigureOut">
              <a:rPr lang="en-GB" smtClean="0"/>
              <a:t>12/09/2023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2C4CC-5F99-6C42-A14A-9DAD2D4855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5485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327E1-F81E-C04E-B76A-643970D877DF}" type="datetimeFigureOut">
              <a:rPr lang="en-GB" smtClean="0"/>
              <a:t>12/09/2023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2C4CC-5F99-6C42-A14A-9DAD2D4855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4048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327E1-F81E-C04E-B76A-643970D877DF}" type="datetimeFigureOut">
              <a:rPr lang="en-GB" smtClean="0"/>
              <a:t>12/09/2023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2C4CC-5F99-6C42-A14A-9DAD2D4855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5581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327E1-F81E-C04E-B76A-643970D877DF}" type="datetimeFigureOut">
              <a:rPr lang="en-GB" smtClean="0"/>
              <a:t>12/09/2023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2C4CC-5F99-6C42-A14A-9DAD2D4855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9655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327E1-F81E-C04E-B76A-643970D877DF}" type="datetimeFigureOut">
              <a:rPr lang="en-GB" smtClean="0"/>
              <a:t>12/09/2023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2C4CC-5F99-6C42-A14A-9DAD2D4855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0577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327E1-F81E-C04E-B76A-643970D877DF}" type="datetimeFigureOut">
              <a:rPr lang="en-GB" smtClean="0"/>
              <a:t>12/09/2023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2C4CC-5F99-6C42-A14A-9DAD2D4855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4779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327E1-F81E-C04E-B76A-643970D877DF}" type="datetimeFigureOut">
              <a:rPr lang="en-GB" smtClean="0"/>
              <a:t>12/09/2023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2C4CC-5F99-6C42-A14A-9DAD2D4855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4947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4327E1-F81E-C04E-B76A-643970D877DF}" type="datetimeFigureOut">
              <a:rPr lang="en-GB" smtClean="0"/>
              <a:t>12/09/2023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52C4CC-5F99-6C42-A14A-9DAD2D4855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1849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6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41F6AC6-7EAC-3269-E92D-CCA8C735FF5B}"/>
              </a:ext>
            </a:extLst>
          </p:cNvPr>
          <p:cNvSpPr/>
          <p:nvPr/>
        </p:nvSpPr>
        <p:spPr>
          <a:xfrm>
            <a:off x="-3" y="-39756"/>
            <a:ext cx="21383627" cy="5413513"/>
          </a:xfrm>
          <a:custGeom>
            <a:avLst/>
            <a:gdLst>
              <a:gd name="connsiteX0" fmla="*/ 0 w 21383625"/>
              <a:gd name="connsiteY0" fmla="*/ 0 h 5334000"/>
              <a:gd name="connsiteX1" fmla="*/ 21383625 w 21383625"/>
              <a:gd name="connsiteY1" fmla="*/ 0 h 5334000"/>
              <a:gd name="connsiteX2" fmla="*/ 21383625 w 21383625"/>
              <a:gd name="connsiteY2" fmla="*/ 5334000 h 5334000"/>
              <a:gd name="connsiteX3" fmla="*/ 0 w 21383625"/>
              <a:gd name="connsiteY3" fmla="*/ 5334000 h 5334000"/>
              <a:gd name="connsiteX4" fmla="*/ 0 w 21383625"/>
              <a:gd name="connsiteY4" fmla="*/ 0 h 5334000"/>
              <a:gd name="connsiteX0" fmla="*/ 0 w 21383625"/>
              <a:gd name="connsiteY0" fmla="*/ 0 h 5334000"/>
              <a:gd name="connsiteX1" fmla="*/ 21383625 w 21383625"/>
              <a:gd name="connsiteY1" fmla="*/ 0 h 5334000"/>
              <a:gd name="connsiteX2" fmla="*/ 20367624 w 21383625"/>
              <a:gd name="connsiteY2" fmla="*/ 5334000 h 5334000"/>
              <a:gd name="connsiteX3" fmla="*/ 0 w 21383625"/>
              <a:gd name="connsiteY3" fmla="*/ 5334000 h 5334000"/>
              <a:gd name="connsiteX4" fmla="*/ 0 w 21383625"/>
              <a:gd name="connsiteY4" fmla="*/ 0 h 5334000"/>
              <a:gd name="connsiteX0" fmla="*/ 0 w 21383625"/>
              <a:gd name="connsiteY0" fmla="*/ 0 h 5334000"/>
              <a:gd name="connsiteX1" fmla="*/ 21383625 w 21383625"/>
              <a:gd name="connsiteY1" fmla="*/ 0 h 5334000"/>
              <a:gd name="connsiteX2" fmla="*/ 20012024 w 21383625"/>
              <a:gd name="connsiteY2" fmla="*/ 5334000 h 5334000"/>
              <a:gd name="connsiteX3" fmla="*/ 0 w 21383625"/>
              <a:gd name="connsiteY3" fmla="*/ 5334000 h 5334000"/>
              <a:gd name="connsiteX4" fmla="*/ 0 w 21383625"/>
              <a:gd name="connsiteY4" fmla="*/ 0 h 5334000"/>
              <a:gd name="connsiteX0" fmla="*/ 0 w 21383625"/>
              <a:gd name="connsiteY0" fmla="*/ 0 h 5334000"/>
              <a:gd name="connsiteX1" fmla="*/ 21383625 w 21383625"/>
              <a:gd name="connsiteY1" fmla="*/ 0 h 5334000"/>
              <a:gd name="connsiteX2" fmla="*/ 20752905 w 21383625"/>
              <a:gd name="connsiteY2" fmla="*/ 2345635 h 5334000"/>
              <a:gd name="connsiteX3" fmla="*/ 20012024 w 21383625"/>
              <a:gd name="connsiteY3" fmla="*/ 5334000 h 5334000"/>
              <a:gd name="connsiteX4" fmla="*/ 0 w 21383625"/>
              <a:gd name="connsiteY4" fmla="*/ 5334000 h 5334000"/>
              <a:gd name="connsiteX5" fmla="*/ 0 w 21383625"/>
              <a:gd name="connsiteY5" fmla="*/ 0 h 5334000"/>
              <a:gd name="connsiteX0" fmla="*/ 0 w 21383625"/>
              <a:gd name="connsiteY0" fmla="*/ 0 h 5413513"/>
              <a:gd name="connsiteX1" fmla="*/ 21383625 w 21383625"/>
              <a:gd name="connsiteY1" fmla="*/ 0 h 5413513"/>
              <a:gd name="connsiteX2" fmla="*/ 20752905 w 21383625"/>
              <a:gd name="connsiteY2" fmla="*/ 2345635 h 5413513"/>
              <a:gd name="connsiteX3" fmla="*/ 19415677 w 21383625"/>
              <a:gd name="connsiteY3" fmla="*/ 5413513 h 5413513"/>
              <a:gd name="connsiteX4" fmla="*/ 0 w 21383625"/>
              <a:gd name="connsiteY4" fmla="*/ 5334000 h 5413513"/>
              <a:gd name="connsiteX5" fmla="*/ 0 w 21383625"/>
              <a:gd name="connsiteY5" fmla="*/ 0 h 5413513"/>
              <a:gd name="connsiteX0" fmla="*/ 0 w 20827032"/>
              <a:gd name="connsiteY0" fmla="*/ 39756 h 5453269"/>
              <a:gd name="connsiteX1" fmla="*/ 20827032 w 20827032"/>
              <a:gd name="connsiteY1" fmla="*/ 0 h 5453269"/>
              <a:gd name="connsiteX2" fmla="*/ 20752905 w 20827032"/>
              <a:gd name="connsiteY2" fmla="*/ 2385391 h 5453269"/>
              <a:gd name="connsiteX3" fmla="*/ 19415677 w 20827032"/>
              <a:gd name="connsiteY3" fmla="*/ 5453269 h 5453269"/>
              <a:gd name="connsiteX4" fmla="*/ 0 w 20827032"/>
              <a:gd name="connsiteY4" fmla="*/ 5373756 h 5453269"/>
              <a:gd name="connsiteX5" fmla="*/ 0 w 20827032"/>
              <a:gd name="connsiteY5" fmla="*/ 39756 h 5453269"/>
              <a:gd name="connsiteX0" fmla="*/ 0 w 20827032"/>
              <a:gd name="connsiteY0" fmla="*/ 39756 h 5453269"/>
              <a:gd name="connsiteX1" fmla="*/ 20827032 w 20827032"/>
              <a:gd name="connsiteY1" fmla="*/ 0 h 5453269"/>
              <a:gd name="connsiteX2" fmla="*/ 20156557 w 20827032"/>
              <a:gd name="connsiteY2" fmla="*/ 2345635 h 5453269"/>
              <a:gd name="connsiteX3" fmla="*/ 19415677 w 20827032"/>
              <a:gd name="connsiteY3" fmla="*/ 5453269 h 5453269"/>
              <a:gd name="connsiteX4" fmla="*/ 0 w 20827032"/>
              <a:gd name="connsiteY4" fmla="*/ 5373756 h 5453269"/>
              <a:gd name="connsiteX5" fmla="*/ 0 w 20827032"/>
              <a:gd name="connsiteY5" fmla="*/ 39756 h 5453269"/>
              <a:gd name="connsiteX0" fmla="*/ 0 w 20827032"/>
              <a:gd name="connsiteY0" fmla="*/ 39756 h 5453269"/>
              <a:gd name="connsiteX1" fmla="*/ 20827032 w 20827032"/>
              <a:gd name="connsiteY1" fmla="*/ 0 h 5453269"/>
              <a:gd name="connsiteX2" fmla="*/ 19679478 w 20827032"/>
              <a:gd name="connsiteY2" fmla="*/ 2385391 h 5453269"/>
              <a:gd name="connsiteX3" fmla="*/ 19415677 w 20827032"/>
              <a:gd name="connsiteY3" fmla="*/ 5453269 h 5453269"/>
              <a:gd name="connsiteX4" fmla="*/ 0 w 20827032"/>
              <a:gd name="connsiteY4" fmla="*/ 5373756 h 5453269"/>
              <a:gd name="connsiteX5" fmla="*/ 0 w 20827032"/>
              <a:gd name="connsiteY5" fmla="*/ 39756 h 5453269"/>
              <a:gd name="connsiteX0" fmla="*/ 0 w 20270441"/>
              <a:gd name="connsiteY0" fmla="*/ 39756 h 5453269"/>
              <a:gd name="connsiteX1" fmla="*/ 20270441 w 20270441"/>
              <a:gd name="connsiteY1" fmla="*/ 0 h 5453269"/>
              <a:gd name="connsiteX2" fmla="*/ 19679478 w 20270441"/>
              <a:gd name="connsiteY2" fmla="*/ 2385391 h 5453269"/>
              <a:gd name="connsiteX3" fmla="*/ 19415677 w 20270441"/>
              <a:gd name="connsiteY3" fmla="*/ 5453269 h 5453269"/>
              <a:gd name="connsiteX4" fmla="*/ 0 w 20270441"/>
              <a:gd name="connsiteY4" fmla="*/ 5373756 h 5453269"/>
              <a:gd name="connsiteX5" fmla="*/ 0 w 20270441"/>
              <a:gd name="connsiteY5" fmla="*/ 39756 h 5453269"/>
              <a:gd name="connsiteX0" fmla="*/ 0 w 20270441"/>
              <a:gd name="connsiteY0" fmla="*/ 39756 h 5413513"/>
              <a:gd name="connsiteX1" fmla="*/ 20270441 w 20270441"/>
              <a:gd name="connsiteY1" fmla="*/ 0 h 5413513"/>
              <a:gd name="connsiteX2" fmla="*/ 19679478 w 20270441"/>
              <a:gd name="connsiteY2" fmla="*/ 2385391 h 5413513"/>
              <a:gd name="connsiteX3" fmla="*/ 18859085 w 20270441"/>
              <a:gd name="connsiteY3" fmla="*/ 5413513 h 5413513"/>
              <a:gd name="connsiteX4" fmla="*/ 0 w 20270441"/>
              <a:gd name="connsiteY4" fmla="*/ 5373756 h 5413513"/>
              <a:gd name="connsiteX5" fmla="*/ 0 w 20270441"/>
              <a:gd name="connsiteY5" fmla="*/ 39756 h 5413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270441" h="5413513">
                <a:moveTo>
                  <a:pt x="0" y="39756"/>
                </a:moveTo>
                <a:lnTo>
                  <a:pt x="20270441" y="0"/>
                </a:lnTo>
                <a:cubicBezTo>
                  <a:pt x="20086705" y="675861"/>
                  <a:pt x="19863214" y="1709530"/>
                  <a:pt x="19679478" y="2385391"/>
                </a:cubicBezTo>
                <a:lnTo>
                  <a:pt x="18859085" y="5413513"/>
                </a:lnTo>
                <a:lnTo>
                  <a:pt x="0" y="5373756"/>
                </a:lnTo>
                <a:lnTo>
                  <a:pt x="0" y="39756"/>
                </a:lnTo>
                <a:close/>
              </a:path>
            </a:pathLst>
          </a:custGeom>
          <a:solidFill>
            <a:srgbClr val="AB1F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543E8D-3C95-548A-656C-8B73D995AC5B}"/>
              </a:ext>
            </a:extLst>
          </p:cNvPr>
          <p:cNvSpPr txBox="1"/>
          <p:nvPr/>
        </p:nvSpPr>
        <p:spPr>
          <a:xfrm>
            <a:off x="8741244" y="177831"/>
            <a:ext cx="122693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solidFill>
                  <a:schemeClr val="bg1"/>
                </a:solidFill>
                <a:latin typeface="Helvetica" pitchFamily="2" charset="0"/>
              </a:rPr>
              <a:t>MSc Cyber Security (Infrastructures Security)</a:t>
            </a:r>
          </a:p>
        </p:txBody>
      </p:sp>
      <p:pic>
        <p:nvPicPr>
          <p:cNvPr id="10" name="Picture 9" descr="Text&#10;&#10;Description automatically generated with low confidence">
            <a:extLst>
              <a:ext uri="{FF2B5EF4-FFF2-40B4-BE49-F238E27FC236}">
                <a16:creationId xmlns:a16="http://schemas.microsoft.com/office/drawing/2014/main" id="{2D03F63B-44F8-F1E5-D7DD-4133A35A7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63" y="355600"/>
            <a:ext cx="3792041" cy="17152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DEE9F60-363F-7FC6-893B-140E85B97DF2}"/>
              </a:ext>
            </a:extLst>
          </p:cNvPr>
          <p:cNvSpPr txBox="1"/>
          <p:nvPr/>
        </p:nvSpPr>
        <p:spPr>
          <a:xfrm>
            <a:off x="5049042" y="2425868"/>
            <a:ext cx="1128553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600" b="1" dirty="0">
                <a:solidFill>
                  <a:schemeClr val="bg1"/>
                </a:solidFill>
                <a:latin typeface="Helvetica" pitchFamily="2" charset="0"/>
              </a:rPr>
              <a:t>Project Title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203AB3-09BB-851C-9304-027568395A0C}"/>
              </a:ext>
            </a:extLst>
          </p:cNvPr>
          <p:cNvSpPr txBox="1"/>
          <p:nvPr/>
        </p:nvSpPr>
        <p:spPr>
          <a:xfrm>
            <a:off x="114300" y="5446221"/>
            <a:ext cx="154305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solidFill>
                  <a:srgbClr val="AB1F2D"/>
                </a:solidFill>
                <a:latin typeface="Helvetica" pitchFamily="2" charset="0"/>
              </a:rPr>
              <a:t>Your Name</a:t>
            </a:r>
            <a:r>
              <a:rPr lang="en-GB" sz="4400" dirty="0">
                <a:solidFill>
                  <a:srgbClr val="AB1F2D"/>
                </a:solidFill>
                <a:latin typeface="Helvetica" pitchFamily="2" charset="0"/>
              </a:rPr>
              <a:t>, Email Address</a:t>
            </a:r>
            <a:endParaRPr lang="en-GB" sz="4400" b="1" dirty="0">
              <a:solidFill>
                <a:srgbClr val="AB1F2D"/>
              </a:solidFill>
              <a:latin typeface="Helvetica" pitchFamily="2" charset="0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0D0F7-A061-0B96-D779-F647539D1AA5}"/>
              </a:ext>
            </a:extLst>
          </p:cNvPr>
          <p:cNvSpPr/>
          <p:nvPr/>
        </p:nvSpPr>
        <p:spPr>
          <a:xfrm>
            <a:off x="313607" y="7237073"/>
            <a:ext cx="20613535" cy="7808289"/>
          </a:xfrm>
          <a:prstGeom prst="roundRect">
            <a:avLst/>
          </a:prstGeom>
          <a:solidFill>
            <a:schemeClr val="bg1"/>
          </a:solidFill>
          <a:ln w="127000">
            <a:solidFill>
              <a:srgbClr val="AB1F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911D18-3F29-00DC-4C3F-2CCEB48626E1}"/>
              </a:ext>
            </a:extLst>
          </p:cNvPr>
          <p:cNvSpPr txBox="1"/>
          <p:nvPr/>
        </p:nvSpPr>
        <p:spPr>
          <a:xfrm>
            <a:off x="3967161" y="7451220"/>
            <a:ext cx="134493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000" b="1" dirty="0">
                <a:solidFill>
                  <a:srgbClr val="AB1F2D"/>
                </a:solidFill>
                <a:latin typeface="Helvetica" pitchFamily="2" charset="0"/>
              </a:rPr>
              <a:t>The Project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B904947-DD39-C4F3-DC2A-0A85257250BA}"/>
              </a:ext>
            </a:extLst>
          </p:cNvPr>
          <p:cNvSpPr/>
          <p:nvPr/>
        </p:nvSpPr>
        <p:spPr>
          <a:xfrm>
            <a:off x="452025" y="21074139"/>
            <a:ext cx="9865862" cy="8820594"/>
          </a:xfrm>
          <a:prstGeom prst="roundRect">
            <a:avLst/>
          </a:prstGeom>
          <a:solidFill>
            <a:schemeClr val="bg1"/>
          </a:solidFill>
          <a:ln w="127000">
            <a:solidFill>
              <a:srgbClr val="AB1F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81B6F8-44A1-6354-6E05-04D6EB8971F9}"/>
              </a:ext>
            </a:extLst>
          </p:cNvPr>
          <p:cNvSpPr txBox="1"/>
          <p:nvPr/>
        </p:nvSpPr>
        <p:spPr>
          <a:xfrm>
            <a:off x="1050906" y="21276568"/>
            <a:ext cx="854437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000" b="1" dirty="0">
                <a:solidFill>
                  <a:srgbClr val="AB1F2D"/>
                </a:solidFill>
                <a:latin typeface="Helvetica" pitchFamily="2" charset="0"/>
              </a:rPr>
              <a:t>Methodology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FA081D-5928-92B1-E250-0B629AEE0BF2}"/>
              </a:ext>
            </a:extLst>
          </p:cNvPr>
          <p:cNvSpPr txBox="1"/>
          <p:nvPr/>
        </p:nvSpPr>
        <p:spPr>
          <a:xfrm>
            <a:off x="788828" y="8512773"/>
            <a:ext cx="194775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solidFill>
                  <a:srgbClr val="AB1F2D"/>
                </a:solidFill>
                <a:latin typeface="Helvetica" pitchFamily="2" charset="0"/>
              </a:rPr>
              <a:t>Problem statement / question – one sentence / short phrase.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DA03B4-1ABA-B220-2A2A-0FE577C29281}"/>
              </a:ext>
            </a:extLst>
          </p:cNvPr>
          <p:cNvSpPr txBox="1"/>
          <p:nvPr/>
        </p:nvSpPr>
        <p:spPr>
          <a:xfrm>
            <a:off x="933599" y="22338352"/>
            <a:ext cx="877899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4000" dirty="0">
                <a:solidFill>
                  <a:srgbClr val="AB1F2D"/>
                </a:solidFill>
                <a:latin typeface="Helvetica" pitchFamily="2" charset="0"/>
              </a:rPr>
              <a:t>Present your methodology – bullet points or short paragraph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4000" dirty="0">
                <a:solidFill>
                  <a:srgbClr val="AB1F2D"/>
                </a:solidFill>
                <a:latin typeface="Helvetica" pitchFamily="2" charset="0"/>
              </a:rPr>
              <a:t>What approach have you taken?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4000" dirty="0">
                <a:solidFill>
                  <a:srgbClr val="AB1F2D"/>
                </a:solidFill>
                <a:latin typeface="Helvetica" pitchFamily="2" charset="0"/>
              </a:rPr>
              <a:t>Did you consider other methodologies?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4000" dirty="0">
                <a:solidFill>
                  <a:srgbClr val="AB1F2D"/>
                </a:solidFill>
                <a:latin typeface="Helvetica" pitchFamily="2" charset="0"/>
              </a:rPr>
              <a:t>Add any images / diagrams to break up the text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F50F8A30-FE9E-E1E9-91B5-C907E805B46B}"/>
              </a:ext>
            </a:extLst>
          </p:cNvPr>
          <p:cNvSpPr/>
          <p:nvPr/>
        </p:nvSpPr>
        <p:spPr>
          <a:xfrm>
            <a:off x="10923182" y="15455566"/>
            <a:ext cx="9865862" cy="8820594"/>
          </a:xfrm>
          <a:prstGeom prst="roundRect">
            <a:avLst/>
          </a:prstGeom>
          <a:solidFill>
            <a:schemeClr val="bg1"/>
          </a:solidFill>
          <a:ln w="127000">
            <a:solidFill>
              <a:srgbClr val="AB1F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CC0CBE-EE84-0D33-FDEE-2FC0B058D575}"/>
              </a:ext>
            </a:extLst>
          </p:cNvPr>
          <p:cNvSpPr txBox="1"/>
          <p:nvPr/>
        </p:nvSpPr>
        <p:spPr>
          <a:xfrm>
            <a:off x="11583924" y="15619726"/>
            <a:ext cx="854437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000" b="1" dirty="0">
                <a:solidFill>
                  <a:srgbClr val="AB1F2D"/>
                </a:solidFill>
                <a:latin typeface="Helvetica" pitchFamily="2" charset="0"/>
              </a:rPr>
              <a:t>Results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E90F2D-9C0C-7806-81A5-D15327E911BC}"/>
              </a:ext>
            </a:extLst>
          </p:cNvPr>
          <p:cNvSpPr txBox="1"/>
          <p:nvPr/>
        </p:nvSpPr>
        <p:spPr>
          <a:xfrm>
            <a:off x="11466616" y="16546170"/>
            <a:ext cx="877899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4000" dirty="0">
                <a:solidFill>
                  <a:srgbClr val="AB1F2D"/>
                </a:solidFill>
                <a:latin typeface="Helvetica" pitchFamily="2" charset="0"/>
              </a:rPr>
              <a:t>Present your results to date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4000" dirty="0">
                <a:solidFill>
                  <a:srgbClr val="AB1F2D"/>
                </a:solidFill>
                <a:latin typeface="Helvetica" pitchFamily="2" charset="0"/>
              </a:rPr>
              <a:t>Use bullet points or a short paragraph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4000" dirty="0">
                <a:solidFill>
                  <a:srgbClr val="AB1F2D"/>
                </a:solidFill>
                <a:latin typeface="Helvetica" pitchFamily="2" charset="0"/>
              </a:rPr>
              <a:t>Add any images / diagrams to break up the text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97204180-D82F-4DEB-DF79-C2351841E5E6}"/>
              </a:ext>
            </a:extLst>
          </p:cNvPr>
          <p:cNvSpPr/>
          <p:nvPr/>
        </p:nvSpPr>
        <p:spPr>
          <a:xfrm>
            <a:off x="452025" y="15498887"/>
            <a:ext cx="9865862" cy="5164475"/>
          </a:xfrm>
          <a:prstGeom prst="roundRect">
            <a:avLst/>
          </a:prstGeom>
          <a:solidFill>
            <a:schemeClr val="bg1"/>
          </a:solidFill>
          <a:ln w="127000">
            <a:solidFill>
              <a:srgbClr val="AB1F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863401E-020A-20CA-9C6F-5FB9F6EC0B11}"/>
              </a:ext>
            </a:extLst>
          </p:cNvPr>
          <p:cNvSpPr txBox="1"/>
          <p:nvPr/>
        </p:nvSpPr>
        <p:spPr>
          <a:xfrm>
            <a:off x="933599" y="16671018"/>
            <a:ext cx="877899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4000" dirty="0">
                <a:solidFill>
                  <a:srgbClr val="AB1F2D"/>
                </a:solidFill>
                <a:latin typeface="Helvetica" pitchFamily="2" charset="0"/>
              </a:rPr>
              <a:t>Bullet points listing the deliverables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4000" dirty="0">
                <a:solidFill>
                  <a:srgbClr val="AB1F2D"/>
                </a:solidFill>
                <a:latin typeface="Helvetica" pitchFamily="2" charset="0"/>
              </a:rPr>
              <a:t>Deliverable 1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4000" dirty="0">
                <a:solidFill>
                  <a:srgbClr val="AB1F2D"/>
                </a:solidFill>
                <a:latin typeface="Helvetica" pitchFamily="2" charset="0"/>
              </a:rPr>
              <a:t>Deliverable 2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4000" dirty="0">
                <a:solidFill>
                  <a:srgbClr val="AB1F2D"/>
                </a:solidFill>
                <a:latin typeface="Helvetica" pitchFamily="2" charset="0"/>
              </a:rPr>
              <a:t>Deliverable 3…etc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4000" dirty="0">
                <a:solidFill>
                  <a:srgbClr val="AB1F2D"/>
                </a:solidFill>
                <a:latin typeface="Helvetica" pitchFamily="2" charset="0"/>
              </a:rPr>
              <a:t>Use an illustration/figure to illustrate if appropriate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237547-02D5-FA83-B28A-F2A8FA15524D}"/>
              </a:ext>
            </a:extLst>
          </p:cNvPr>
          <p:cNvSpPr txBox="1"/>
          <p:nvPr/>
        </p:nvSpPr>
        <p:spPr>
          <a:xfrm>
            <a:off x="114300" y="6095067"/>
            <a:ext cx="154305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solidFill>
                  <a:srgbClr val="AB1F2D"/>
                </a:solidFill>
                <a:latin typeface="Helvetica" pitchFamily="2" charset="0"/>
              </a:rPr>
              <a:t>Supervisor Name (, Project Partner Name if applicable)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D7875E-72B2-AC22-29BC-85898590E022}"/>
              </a:ext>
            </a:extLst>
          </p:cNvPr>
          <p:cNvSpPr txBox="1"/>
          <p:nvPr/>
        </p:nvSpPr>
        <p:spPr>
          <a:xfrm>
            <a:off x="788828" y="9460482"/>
            <a:ext cx="1947757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rgbClr val="AB1F2D"/>
                </a:solidFill>
                <a:latin typeface="Helvetica" pitchFamily="2" charset="0"/>
              </a:rPr>
              <a:t>Short paragraph on the problem that you are trying to address (e.g. background information) - 100 words maximum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4000" dirty="0">
                <a:solidFill>
                  <a:srgbClr val="AB1F2D"/>
                </a:solidFill>
                <a:latin typeface="Helvetica" pitchFamily="2" charset="0"/>
              </a:rPr>
              <a:t>What is the challenge?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4000" dirty="0">
                <a:solidFill>
                  <a:srgbClr val="AB1F2D"/>
                </a:solidFill>
                <a:latin typeface="Helvetica" pitchFamily="2" charset="0"/>
              </a:rPr>
              <a:t>Does it have industrial relevance?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4000" dirty="0">
                <a:solidFill>
                  <a:srgbClr val="AB1F2D"/>
                </a:solidFill>
                <a:latin typeface="Helvetica" pitchFamily="2" charset="0"/>
              </a:rPr>
              <a:t>If so, to whom?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4000" dirty="0">
                <a:solidFill>
                  <a:srgbClr val="AB1F2D"/>
                </a:solidFill>
                <a:latin typeface="Helvetica" pitchFamily="2" charset="0"/>
              </a:rPr>
              <a:t>Add any images / diagrams to break up the text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D7B7569-6FB4-0515-AB5B-C18334812AB6}"/>
              </a:ext>
            </a:extLst>
          </p:cNvPr>
          <p:cNvSpPr/>
          <p:nvPr/>
        </p:nvSpPr>
        <p:spPr>
          <a:xfrm>
            <a:off x="10923182" y="24730258"/>
            <a:ext cx="9865862" cy="5164475"/>
          </a:xfrm>
          <a:prstGeom prst="roundRect">
            <a:avLst/>
          </a:prstGeom>
          <a:solidFill>
            <a:schemeClr val="bg1"/>
          </a:solidFill>
          <a:ln w="127000">
            <a:solidFill>
              <a:srgbClr val="AB1F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5BF8F3-05DC-B526-3DBA-48B431451ED6}"/>
              </a:ext>
            </a:extLst>
          </p:cNvPr>
          <p:cNvSpPr txBox="1"/>
          <p:nvPr/>
        </p:nvSpPr>
        <p:spPr>
          <a:xfrm>
            <a:off x="1112767" y="15680816"/>
            <a:ext cx="854437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000" b="1" dirty="0">
                <a:solidFill>
                  <a:srgbClr val="AB1F2D"/>
                </a:solidFill>
                <a:latin typeface="Helvetica" pitchFamily="2" charset="0"/>
              </a:rPr>
              <a:t>Project Deliverables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BA3D04-098B-63F2-3467-15CC7E045E0A}"/>
              </a:ext>
            </a:extLst>
          </p:cNvPr>
          <p:cNvSpPr txBox="1"/>
          <p:nvPr/>
        </p:nvSpPr>
        <p:spPr>
          <a:xfrm>
            <a:off x="11404756" y="25963349"/>
            <a:ext cx="877899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4000" dirty="0">
                <a:solidFill>
                  <a:srgbClr val="AB1F2D"/>
                </a:solidFill>
                <a:latin typeface="Helvetica" pitchFamily="2" charset="0"/>
              </a:rPr>
              <a:t>How will you evaluate your findings?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GB" sz="4000" dirty="0">
              <a:solidFill>
                <a:srgbClr val="AB1F2D"/>
              </a:solidFill>
              <a:latin typeface="Helvetica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788E119-D733-3B83-1C19-D2E110E22910}"/>
              </a:ext>
            </a:extLst>
          </p:cNvPr>
          <p:cNvSpPr txBox="1"/>
          <p:nvPr/>
        </p:nvSpPr>
        <p:spPr>
          <a:xfrm>
            <a:off x="11522063" y="24922682"/>
            <a:ext cx="854437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000" b="1" dirty="0">
                <a:solidFill>
                  <a:srgbClr val="AB1F2D"/>
                </a:solidFill>
                <a:latin typeface="Helvetica" pitchFamily="2" charset="0"/>
              </a:rPr>
              <a:t>Evaluation</a:t>
            </a:r>
          </a:p>
        </p:txBody>
      </p:sp>
    </p:spTree>
    <p:extLst>
      <p:ext uri="{BB962C8B-B14F-4D97-AF65-F5344CB8AC3E}">
        <p14:creationId xmlns:p14="http://schemas.microsoft.com/office/powerpoint/2010/main" val="135051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01012482FE20245BA94E3A8B64324CA" ma:contentTypeVersion="4" ma:contentTypeDescription="Create a new document." ma:contentTypeScope="" ma:versionID="d4fbe199f52c4536988284de49bcd8fc">
  <xsd:schema xmlns:xsd="http://www.w3.org/2001/XMLSchema" xmlns:xs="http://www.w3.org/2001/XMLSchema" xmlns:p="http://schemas.microsoft.com/office/2006/metadata/properties" xmlns:ns2="a88f1d06-d039-44fe-930a-bee3af5018c9" xmlns:ns3="26bc1182-c583-4a5c-941c-8d564d2fd5e9" targetNamespace="http://schemas.microsoft.com/office/2006/metadata/properties" ma:root="true" ma:fieldsID="4709bd6873649d4d38707babd78a025e" ns2:_="" ns3:_="">
    <xsd:import namespace="a88f1d06-d039-44fe-930a-bee3af5018c9"/>
    <xsd:import namespace="26bc1182-c583-4a5c-941c-8d564d2fd5e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8f1d06-d039-44fe-930a-bee3af5018c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bc1182-c583-4a5c-941c-8d564d2fd5e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84BBFF-E894-4D73-912F-86BD8286C9D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65E8C2B-1CC7-4A25-A44D-4D287391652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3FF09BB-6C4F-4DBB-A1CE-4E4D033960B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88f1d06-d039-44fe-930a-bee3af5018c9"/>
    <ds:schemaRef ds:uri="26bc1182-c583-4a5c-941c-8d564d2fd5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374</TotalTime>
  <Words>173</Words>
  <Application>Microsoft Office PowerPoint</Application>
  <PresentationFormat>Custom</PresentationFormat>
  <Paragraphs>28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Louise Evans</dc:creator>
  <cp:lastModifiedBy>Louise Evans</cp:lastModifiedBy>
  <cp:revision>3</cp:revision>
  <dcterms:created xsi:type="dcterms:W3CDTF">2022-10-12T19:44:29Z</dcterms:created>
  <dcterms:modified xsi:type="dcterms:W3CDTF">2023-09-12T09:23:20Z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0x010100601012482FE20245BA94E3A8B64324CA</vt:lpwstr>
  </property>
</Properties>
</file>